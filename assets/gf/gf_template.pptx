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hOTtEyifd02Xt2V1+R8OYQdm9O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678c11875b_0_1:notes"/>
          <p:cNvSpPr txBox="1"/>
          <p:nvPr>
            <p:ph idx="1" type="body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2678c11875b_0_1:notes"/>
          <p:cNvSpPr/>
          <p:nvPr>
            <p:ph idx="2" type="sldImg"/>
          </p:nvPr>
        </p:nvSpPr>
        <p:spPr>
          <a:xfrm>
            <a:off x="1219200" y="857250"/>
            <a:ext cx="97536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91ea9d587_0_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e91ea9d587_0_1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784198" y="169163"/>
            <a:ext cx="10623602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body"/>
          </p:nvPr>
        </p:nvSpPr>
        <p:spPr>
          <a:xfrm>
            <a:off x="2255520" y="3217922"/>
            <a:ext cx="7680959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50295" y="228600"/>
            <a:ext cx="1207007" cy="128625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4"/>
          <p:cNvSpPr txBox="1"/>
          <p:nvPr>
            <p:ph type="title"/>
          </p:nvPr>
        </p:nvSpPr>
        <p:spPr>
          <a:xfrm>
            <a:off x="784198" y="169163"/>
            <a:ext cx="10623602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678c11875b_0_8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2678c11875b_0_8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g2678c11875b_0_8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2678c11875b_0_8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2678c11875b_0_8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9pPr>
          </a:lstStyle>
          <a:p/>
        </p:txBody>
      </p:sp>
      <p:sp>
        <p:nvSpPr>
          <p:cNvPr id="36" name="Google Shape;3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678c11875b_0_17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678c11875b_0_17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g2678c11875b_0_17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2678c11875b_0_17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2678c11875b_0_1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678c11875b_0_26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2678c11875b_0_26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g2678c11875b_0_26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2678c11875b_0_26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2678c11875b_0_26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 txBox="1"/>
          <p:nvPr>
            <p:ph type="title"/>
          </p:nvPr>
        </p:nvSpPr>
        <p:spPr>
          <a:xfrm>
            <a:off x="784198" y="169163"/>
            <a:ext cx="10623602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784198" y="169163"/>
            <a:ext cx="10623602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2255520" y="3217922"/>
            <a:ext cx="7680959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/>
          <p:nvPr/>
        </p:nvSpPr>
        <p:spPr>
          <a:xfrm>
            <a:off x="2470435" y="4500003"/>
            <a:ext cx="5731500" cy="22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158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zh-TW" sz="43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Mr. Chung</a:t>
            </a:r>
            <a:endParaRPr b="0" i="0" sz="43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ctr">
              <a:lnSpc>
                <a:spcPct val="104883"/>
              </a:lnSpc>
              <a:spcBef>
                <a:spcPts val="509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zh-TW" sz="43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退休儲蓄增長</a:t>
            </a:r>
            <a:endParaRPr b="0" i="0" sz="43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12700" marR="5080" rtl="0" algn="l">
              <a:lnSpc>
                <a:spcPct val="104883"/>
              </a:lnSpc>
              <a:spcBef>
                <a:spcPts val="509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t/>
            </a:r>
            <a:endParaRPr b="0" i="0" sz="43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69" name="Google Shape;69;p1"/>
          <p:cNvGrpSpPr/>
          <p:nvPr/>
        </p:nvGrpSpPr>
        <p:grpSpPr>
          <a:xfrm>
            <a:off x="8480425" y="4796596"/>
            <a:ext cx="35560" cy="1373506"/>
            <a:chOff x="6818464" y="4841526"/>
            <a:chExt cx="35560" cy="1373506"/>
          </a:xfrm>
        </p:grpSpPr>
        <p:sp>
          <p:nvSpPr>
            <p:cNvPr id="70" name="Google Shape;70;p1"/>
            <p:cNvSpPr/>
            <p:nvPr/>
          </p:nvSpPr>
          <p:spPr>
            <a:xfrm>
              <a:off x="6825207" y="4841527"/>
              <a:ext cx="28575" cy="1373505"/>
            </a:xfrm>
            <a:custGeom>
              <a:rect b="b" l="l" r="r" t="t"/>
              <a:pathLst>
                <a:path extrusionOk="0" h="1373504" w="28575">
                  <a:moveTo>
                    <a:pt x="14398" y="0"/>
                  </a:moveTo>
                  <a:lnTo>
                    <a:pt x="7099" y="1189"/>
                  </a:lnTo>
                  <a:lnTo>
                    <a:pt x="1953" y="822"/>
                  </a:lnTo>
                  <a:lnTo>
                    <a:pt x="4156" y="60812"/>
                  </a:lnTo>
                  <a:lnTo>
                    <a:pt x="5474" y="119543"/>
                  </a:lnTo>
                  <a:lnTo>
                    <a:pt x="6041" y="176981"/>
                  </a:lnTo>
                  <a:lnTo>
                    <a:pt x="5996" y="233095"/>
                  </a:lnTo>
                  <a:lnTo>
                    <a:pt x="5475" y="287850"/>
                  </a:lnTo>
                  <a:lnTo>
                    <a:pt x="4615" y="341214"/>
                  </a:lnTo>
                  <a:lnTo>
                    <a:pt x="522" y="540092"/>
                  </a:lnTo>
                  <a:lnTo>
                    <a:pt x="20" y="586001"/>
                  </a:lnTo>
                  <a:lnTo>
                    <a:pt x="0" y="630320"/>
                  </a:lnTo>
                  <a:lnTo>
                    <a:pt x="598" y="673016"/>
                  </a:lnTo>
                  <a:lnTo>
                    <a:pt x="1953" y="714054"/>
                  </a:lnTo>
                  <a:lnTo>
                    <a:pt x="5879" y="806297"/>
                  </a:lnTo>
                  <a:lnTo>
                    <a:pt x="9498" y="907387"/>
                  </a:lnTo>
                  <a:lnTo>
                    <a:pt x="10959" y="960092"/>
                  </a:lnTo>
                  <a:lnTo>
                    <a:pt x="12063" y="1013619"/>
                  </a:lnTo>
                  <a:lnTo>
                    <a:pt x="12717" y="1067505"/>
                  </a:lnTo>
                  <a:lnTo>
                    <a:pt x="12827" y="1121287"/>
                  </a:lnTo>
                  <a:lnTo>
                    <a:pt x="12300" y="1174502"/>
                  </a:lnTo>
                  <a:lnTo>
                    <a:pt x="11042" y="1226686"/>
                  </a:lnTo>
                  <a:lnTo>
                    <a:pt x="8961" y="1277376"/>
                  </a:lnTo>
                  <a:lnTo>
                    <a:pt x="5962" y="1326109"/>
                  </a:lnTo>
                  <a:lnTo>
                    <a:pt x="1953" y="1372422"/>
                  </a:lnTo>
                  <a:lnTo>
                    <a:pt x="6295" y="1371852"/>
                  </a:lnTo>
                  <a:lnTo>
                    <a:pt x="16580" y="1373278"/>
                  </a:lnTo>
                  <a:lnTo>
                    <a:pt x="20241" y="1372422"/>
                  </a:lnTo>
                  <a:lnTo>
                    <a:pt x="18841" y="1311374"/>
                  </a:lnTo>
                  <a:lnTo>
                    <a:pt x="18261" y="1250134"/>
                  </a:lnTo>
                  <a:lnTo>
                    <a:pt x="18349" y="1189101"/>
                  </a:lnTo>
                  <a:lnTo>
                    <a:pt x="18954" y="1128675"/>
                  </a:lnTo>
                  <a:lnTo>
                    <a:pt x="19926" y="1069253"/>
                  </a:lnTo>
                  <a:lnTo>
                    <a:pt x="24455" y="849591"/>
                  </a:lnTo>
                  <a:lnTo>
                    <a:pt x="24993" y="801176"/>
                  </a:lnTo>
                  <a:lnTo>
                    <a:pt x="24992" y="756157"/>
                  </a:lnTo>
                  <a:lnTo>
                    <a:pt x="24300" y="714935"/>
                  </a:lnTo>
                  <a:lnTo>
                    <a:pt x="22767" y="677908"/>
                  </a:lnTo>
                  <a:lnTo>
                    <a:pt x="20241" y="645474"/>
                  </a:lnTo>
                  <a:lnTo>
                    <a:pt x="17817" y="609876"/>
                  </a:lnTo>
                  <a:lnTo>
                    <a:pt x="16951" y="568355"/>
                  </a:lnTo>
                  <a:lnTo>
                    <a:pt x="17330" y="521892"/>
                  </a:lnTo>
                  <a:lnTo>
                    <a:pt x="18637" y="471466"/>
                  </a:lnTo>
                  <a:lnTo>
                    <a:pt x="20558" y="418055"/>
                  </a:lnTo>
                  <a:lnTo>
                    <a:pt x="24982" y="306197"/>
                  </a:lnTo>
                  <a:lnTo>
                    <a:pt x="26856" y="249708"/>
                  </a:lnTo>
                  <a:lnTo>
                    <a:pt x="28084" y="194150"/>
                  </a:lnTo>
                  <a:lnTo>
                    <a:pt x="28351" y="140504"/>
                  </a:lnTo>
                  <a:lnTo>
                    <a:pt x="27343" y="89748"/>
                  </a:lnTo>
                  <a:lnTo>
                    <a:pt x="24745" y="42861"/>
                  </a:lnTo>
                  <a:lnTo>
                    <a:pt x="20241" y="822"/>
                  </a:lnTo>
                  <a:lnTo>
                    <a:pt x="14398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6818464" y="4841526"/>
              <a:ext cx="35560" cy="1373505"/>
            </a:xfrm>
            <a:custGeom>
              <a:rect b="b" l="l" r="r" t="t"/>
              <a:pathLst>
                <a:path extrusionOk="0" h="1373504" w="35559">
                  <a:moveTo>
                    <a:pt x="26984" y="823"/>
                  </a:moveTo>
                  <a:lnTo>
                    <a:pt x="21505" y="52768"/>
                  </a:lnTo>
                  <a:lnTo>
                    <a:pt x="18371" y="102852"/>
                  </a:lnTo>
                  <a:lnTo>
                    <a:pt x="17207" y="151426"/>
                  </a:lnTo>
                  <a:lnTo>
                    <a:pt x="17637" y="198841"/>
                  </a:lnTo>
                  <a:lnTo>
                    <a:pt x="19285" y="245450"/>
                  </a:lnTo>
                  <a:lnTo>
                    <a:pt x="21777" y="291603"/>
                  </a:lnTo>
                  <a:lnTo>
                    <a:pt x="24735" y="337652"/>
                  </a:lnTo>
                  <a:lnTo>
                    <a:pt x="27786" y="383950"/>
                  </a:lnTo>
                  <a:lnTo>
                    <a:pt x="30552" y="430846"/>
                  </a:lnTo>
                  <a:lnTo>
                    <a:pt x="32660" y="478693"/>
                  </a:lnTo>
                  <a:lnTo>
                    <a:pt x="33732" y="527843"/>
                  </a:lnTo>
                  <a:lnTo>
                    <a:pt x="33394" y="578647"/>
                  </a:lnTo>
                  <a:lnTo>
                    <a:pt x="31270" y="631456"/>
                  </a:lnTo>
                  <a:lnTo>
                    <a:pt x="26984" y="686623"/>
                  </a:lnTo>
                  <a:lnTo>
                    <a:pt x="22153" y="742756"/>
                  </a:lnTo>
                  <a:lnTo>
                    <a:pt x="18563" y="798170"/>
                  </a:lnTo>
                  <a:lnTo>
                    <a:pt x="16088" y="852769"/>
                  </a:lnTo>
                  <a:lnTo>
                    <a:pt x="14605" y="906457"/>
                  </a:lnTo>
                  <a:lnTo>
                    <a:pt x="13989" y="959141"/>
                  </a:lnTo>
                  <a:lnTo>
                    <a:pt x="14116" y="1010725"/>
                  </a:lnTo>
                  <a:lnTo>
                    <a:pt x="14862" y="1061115"/>
                  </a:lnTo>
                  <a:lnTo>
                    <a:pt x="16103" y="1110215"/>
                  </a:lnTo>
                  <a:lnTo>
                    <a:pt x="17714" y="1157931"/>
                  </a:lnTo>
                  <a:lnTo>
                    <a:pt x="19572" y="1204168"/>
                  </a:lnTo>
                  <a:lnTo>
                    <a:pt x="21552" y="1248830"/>
                  </a:lnTo>
                  <a:lnTo>
                    <a:pt x="23531" y="1291823"/>
                  </a:lnTo>
                  <a:lnTo>
                    <a:pt x="25382" y="1333052"/>
                  </a:lnTo>
                  <a:lnTo>
                    <a:pt x="26984" y="1372423"/>
                  </a:lnTo>
                  <a:lnTo>
                    <a:pt x="20335" y="1372178"/>
                  </a:lnTo>
                  <a:lnTo>
                    <a:pt x="15674" y="1372738"/>
                  </a:lnTo>
                  <a:lnTo>
                    <a:pt x="8696" y="1372423"/>
                  </a:lnTo>
                  <a:lnTo>
                    <a:pt x="6848" y="1314747"/>
                  </a:lnTo>
                  <a:lnTo>
                    <a:pt x="5114" y="1262595"/>
                  </a:lnTo>
                  <a:lnTo>
                    <a:pt x="3546" y="1214778"/>
                  </a:lnTo>
                  <a:lnTo>
                    <a:pt x="2197" y="1170111"/>
                  </a:lnTo>
                  <a:lnTo>
                    <a:pt x="1121" y="1127406"/>
                  </a:lnTo>
                  <a:lnTo>
                    <a:pt x="371" y="1085479"/>
                  </a:lnTo>
                  <a:lnTo>
                    <a:pt x="0" y="1043141"/>
                  </a:lnTo>
                  <a:lnTo>
                    <a:pt x="60" y="999206"/>
                  </a:lnTo>
                  <a:lnTo>
                    <a:pt x="605" y="952488"/>
                  </a:lnTo>
                  <a:lnTo>
                    <a:pt x="1688" y="901801"/>
                  </a:lnTo>
                  <a:lnTo>
                    <a:pt x="3362" y="845957"/>
                  </a:lnTo>
                  <a:lnTo>
                    <a:pt x="5680" y="783770"/>
                  </a:lnTo>
                  <a:lnTo>
                    <a:pt x="8696" y="714055"/>
                  </a:lnTo>
                  <a:lnTo>
                    <a:pt x="11049" y="648621"/>
                  </a:lnTo>
                  <a:lnTo>
                    <a:pt x="12002" y="588932"/>
                  </a:lnTo>
                  <a:lnTo>
                    <a:pt x="11813" y="534108"/>
                  </a:lnTo>
                  <a:lnTo>
                    <a:pt x="10743" y="483272"/>
                  </a:lnTo>
                  <a:lnTo>
                    <a:pt x="9051" y="435543"/>
                  </a:lnTo>
                  <a:lnTo>
                    <a:pt x="6997" y="390043"/>
                  </a:lnTo>
                  <a:lnTo>
                    <a:pt x="4841" y="345894"/>
                  </a:lnTo>
                  <a:lnTo>
                    <a:pt x="2842" y="302215"/>
                  </a:lnTo>
                  <a:lnTo>
                    <a:pt x="1261" y="258129"/>
                  </a:lnTo>
                  <a:lnTo>
                    <a:pt x="356" y="212757"/>
                  </a:lnTo>
                  <a:lnTo>
                    <a:pt x="387" y="165219"/>
                  </a:lnTo>
                  <a:lnTo>
                    <a:pt x="1614" y="114636"/>
                  </a:lnTo>
                  <a:lnTo>
                    <a:pt x="4297" y="60131"/>
                  </a:lnTo>
                  <a:lnTo>
                    <a:pt x="8696" y="823"/>
                  </a:lnTo>
                  <a:lnTo>
                    <a:pt x="15422" y="364"/>
                  </a:lnTo>
                  <a:lnTo>
                    <a:pt x="21891" y="792"/>
                  </a:lnTo>
                  <a:lnTo>
                    <a:pt x="26984" y="823"/>
                  </a:lnTo>
                  <a:close/>
                </a:path>
                <a:path extrusionOk="0" h="1373504" w="35559">
                  <a:moveTo>
                    <a:pt x="26984" y="823"/>
                  </a:moveTo>
                  <a:lnTo>
                    <a:pt x="31488" y="42861"/>
                  </a:lnTo>
                  <a:lnTo>
                    <a:pt x="34086" y="89748"/>
                  </a:lnTo>
                  <a:lnTo>
                    <a:pt x="35094" y="140504"/>
                  </a:lnTo>
                  <a:lnTo>
                    <a:pt x="34826" y="194151"/>
                  </a:lnTo>
                  <a:lnTo>
                    <a:pt x="33598" y="249708"/>
                  </a:lnTo>
                  <a:lnTo>
                    <a:pt x="31725" y="306197"/>
                  </a:lnTo>
                  <a:lnTo>
                    <a:pt x="29520" y="362639"/>
                  </a:lnTo>
                  <a:lnTo>
                    <a:pt x="27300" y="418055"/>
                  </a:lnTo>
                  <a:lnTo>
                    <a:pt x="25379" y="471466"/>
                  </a:lnTo>
                  <a:lnTo>
                    <a:pt x="24072" y="521892"/>
                  </a:lnTo>
                  <a:lnTo>
                    <a:pt x="23694" y="568355"/>
                  </a:lnTo>
                  <a:lnTo>
                    <a:pt x="24559" y="609876"/>
                  </a:lnTo>
                  <a:lnTo>
                    <a:pt x="26984" y="645475"/>
                  </a:lnTo>
                  <a:lnTo>
                    <a:pt x="29510" y="677908"/>
                  </a:lnTo>
                  <a:lnTo>
                    <a:pt x="31043" y="714935"/>
                  </a:lnTo>
                  <a:lnTo>
                    <a:pt x="31735" y="756158"/>
                  </a:lnTo>
                  <a:lnTo>
                    <a:pt x="31736" y="801176"/>
                  </a:lnTo>
                  <a:lnTo>
                    <a:pt x="31198" y="849592"/>
                  </a:lnTo>
                  <a:lnTo>
                    <a:pt x="30271" y="901006"/>
                  </a:lnTo>
                  <a:lnTo>
                    <a:pt x="29106" y="955020"/>
                  </a:lnTo>
                  <a:lnTo>
                    <a:pt x="27855" y="1011236"/>
                  </a:lnTo>
                  <a:lnTo>
                    <a:pt x="26668" y="1069253"/>
                  </a:lnTo>
                  <a:lnTo>
                    <a:pt x="25696" y="1128675"/>
                  </a:lnTo>
                  <a:lnTo>
                    <a:pt x="25091" y="1189101"/>
                  </a:lnTo>
                  <a:lnTo>
                    <a:pt x="25004" y="1250134"/>
                  </a:lnTo>
                  <a:lnTo>
                    <a:pt x="25584" y="1311374"/>
                  </a:lnTo>
                  <a:lnTo>
                    <a:pt x="26984" y="1372423"/>
                  </a:lnTo>
                  <a:lnTo>
                    <a:pt x="23322" y="1373279"/>
                  </a:lnTo>
                  <a:lnTo>
                    <a:pt x="13038" y="1371853"/>
                  </a:lnTo>
                  <a:lnTo>
                    <a:pt x="8696" y="1372423"/>
                  </a:lnTo>
                  <a:lnTo>
                    <a:pt x="12705" y="1326109"/>
                  </a:lnTo>
                  <a:lnTo>
                    <a:pt x="15703" y="1277376"/>
                  </a:lnTo>
                  <a:lnTo>
                    <a:pt x="17785" y="1226686"/>
                  </a:lnTo>
                  <a:lnTo>
                    <a:pt x="19042" y="1174502"/>
                  </a:lnTo>
                  <a:lnTo>
                    <a:pt x="19569" y="1121287"/>
                  </a:lnTo>
                  <a:lnTo>
                    <a:pt x="19459" y="1067505"/>
                  </a:lnTo>
                  <a:lnTo>
                    <a:pt x="18805" y="1013619"/>
                  </a:lnTo>
                  <a:lnTo>
                    <a:pt x="17701" y="960092"/>
                  </a:lnTo>
                  <a:lnTo>
                    <a:pt x="16241" y="907387"/>
                  </a:lnTo>
                  <a:lnTo>
                    <a:pt x="14516" y="855968"/>
                  </a:lnTo>
                  <a:lnTo>
                    <a:pt x="12622" y="806297"/>
                  </a:lnTo>
                  <a:lnTo>
                    <a:pt x="10650" y="758838"/>
                  </a:lnTo>
                  <a:lnTo>
                    <a:pt x="8696" y="714055"/>
                  </a:lnTo>
                  <a:lnTo>
                    <a:pt x="7341" y="673016"/>
                  </a:lnTo>
                  <a:lnTo>
                    <a:pt x="6742" y="630320"/>
                  </a:lnTo>
                  <a:lnTo>
                    <a:pt x="6762" y="586001"/>
                  </a:lnTo>
                  <a:lnTo>
                    <a:pt x="7264" y="540092"/>
                  </a:lnTo>
                  <a:lnTo>
                    <a:pt x="8112" y="492625"/>
                  </a:lnTo>
                  <a:lnTo>
                    <a:pt x="9168" y="443635"/>
                  </a:lnTo>
                  <a:lnTo>
                    <a:pt x="10295" y="393153"/>
                  </a:lnTo>
                  <a:lnTo>
                    <a:pt x="11357" y="341214"/>
                  </a:lnTo>
                  <a:lnTo>
                    <a:pt x="12218" y="287850"/>
                  </a:lnTo>
                  <a:lnTo>
                    <a:pt x="12739" y="233095"/>
                  </a:lnTo>
                  <a:lnTo>
                    <a:pt x="12784" y="176981"/>
                  </a:lnTo>
                  <a:lnTo>
                    <a:pt x="12216" y="119543"/>
                  </a:lnTo>
                  <a:lnTo>
                    <a:pt x="10899" y="60812"/>
                  </a:lnTo>
                  <a:lnTo>
                    <a:pt x="8696" y="823"/>
                  </a:lnTo>
                  <a:lnTo>
                    <a:pt x="13841" y="1190"/>
                  </a:lnTo>
                  <a:lnTo>
                    <a:pt x="21140" y="0"/>
                  </a:lnTo>
                  <a:lnTo>
                    <a:pt x="26984" y="823"/>
                  </a:lnTo>
                  <a:close/>
                </a:path>
              </a:pathLst>
            </a:custGeom>
            <a:noFill/>
            <a:ln cap="flat" cmpd="sng" w="44450">
              <a:solidFill>
                <a:srgbClr val="ED7D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1"/>
          <p:cNvSpPr txBox="1"/>
          <p:nvPr/>
        </p:nvSpPr>
        <p:spPr>
          <a:xfrm>
            <a:off x="8763000" y="5307660"/>
            <a:ext cx="50277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zh-TW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Prepared by Henry Chu 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8" cy="4174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088" y="4489703"/>
            <a:ext cx="1908048" cy="1987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20400" y="182879"/>
            <a:ext cx="1188720" cy="126796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"/>
          <p:cNvSpPr txBox="1"/>
          <p:nvPr>
            <p:ph type="title"/>
          </p:nvPr>
        </p:nvSpPr>
        <p:spPr>
          <a:xfrm>
            <a:off x="275773" y="319608"/>
            <a:ext cx="2815590" cy="763270"/>
          </a:xfrm>
          <a:prstGeom prst="rect">
            <a:avLst/>
          </a:prstGeom>
          <a:noFill/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5875">
            <a:spAutoFit/>
          </a:bodyPr>
          <a:lstStyle/>
          <a:p>
            <a:pPr indent="0" lvl="0" marL="608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 sz="2700">
                <a:latin typeface="Microsoft JhengHei"/>
                <a:ea typeface="Microsoft JhengHei"/>
                <a:cs typeface="Microsoft JhengHei"/>
                <a:sym typeface="Microsoft JhengHei"/>
              </a:rPr>
              <a:t>公司</a:t>
            </a:r>
            <a:r>
              <a:rPr lang="zh-TW" sz="2700"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lang="zh-TW" sz="2700">
                <a:latin typeface="Microsoft JhengHei"/>
                <a:ea typeface="Microsoft JhengHei"/>
                <a:cs typeface="Microsoft JhengHei"/>
                <a:sym typeface="Microsoft JhengHei"/>
              </a:rPr>
              <a:t>服務</a:t>
            </a:r>
            <a:endParaRPr sz="27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81" name="Google Shape;8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6300" y="0"/>
            <a:ext cx="6133866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14023" y="115763"/>
            <a:ext cx="1212156" cy="1290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6"/>
          <p:cNvPicPr preferRelativeResize="0"/>
          <p:nvPr/>
        </p:nvPicPr>
        <p:blipFill rotWithShape="1">
          <a:blip r:embed="rId4">
            <a:alphaModFix/>
          </a:blip>
          <a:srcRect b="36505" l="0" r="0" t="3356"/>
          <a:stretch/>
        </p:blipFill>
        <p:spPr>
          <a:xfrm>
            <a:off x="2087725" y="0"/>
            <a:ext cx="801655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>
            <p:ph type="title"/>
          </p:nvPr>
        </p:nvSpPr>
        <p:spPr>
          <a:xfrm>
            <a:off x="443957" y="238251"/>
            <a:ext cx="23418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9</a:t>
            </a: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種貨幣轉換</a:t>
            </a:r>
            <a:endParaRPr/>
          </a:p>
        </p:txBody>
      </p:sp>
      <p:pic>
        <p:nvPicPr>
          <p:cNvPr id="93" name="Google Shape;9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188" y="585789"/>
            <a:ext cx="6905625" cy="568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4538" y="322650"/>
            <a:ext cx="7110570" cy="25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50295" y="228600"/>
            <a:ext cx="1207007" cy="128625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>
            <p:ph type="title"/>
          </p:nvPr>
        </p:nvSpPr>
        <p:spPr>
          <a:xfrm>
            <a:off x="443957" y="238251"/>
            <a:ext cx="1805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分拆保單</a:t>
            </a:r>
            <a:endParaRPr/>
          </a:p>
        </p:txBody>
      </p:sp>
      <p:pic>
        <p:nvPicPr>
          <p:cNvPr id="101" name="Google Shape;101;p8"/>
          <p:cNvPicPr preferRelativeResize="0"/>
          <p:nvPr/>
        </p:nvPicPr>
        <p:blipFill rotWithShape="1">
          <a:blip r:embed="rId5">
            <a:alphaModFix/>
          </a:blip>
          <a:srcRect b="0" l="0" r="0" t="34645"/>
          <a:stretch/>
        </p:blipFill>
        <p:spPr>
          <a:xfrm>
            <a:off x="2249250" y="2914750"/>
            <a:ext cx="7921150" cy="384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/>
          <p:nvPr>
            <p:ph type="title"/>
          </p:nvPr>
        </p:nvSpPr>
        <p:spPr>
          <a:xfrm>
            <a:off x="876577" y="238251"/>
            <a:ext cx="1805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財富傳承</a:t>
            </a:r>
            <a:endParaRPr/>
          </a:p>
        </p:txBody>
      </p:sp>
      <p:grpSp>
        <p:nvGrpSpPr>
          <p:cNvPr id="107" name="Google Shape;107;p9"/>
          <p:cNvGrpSpPr/>
          <p:nvPr/>
        </p:nvGrpSpPr>
        <p:grpSpPr>
          <a:xfrm>
            <a:off x="4521037" y="0"/>
            <a:ext cx="6467003" cy="6662927"/>
            <a:chOff x="4521037" y="0"/>
            <a:chExt cx="6467003" cy="6662927"/>
          </a:xfrm>
        </p:grpSpPr>
        <p:pic>
          <p:nvPicPr>
            <p:cNvPr id="108" name="Google Shape;108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14416" y="2721863"/>
              <a:ext cx="5373624" cy="3941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21037" y="0"/>
              <a:ext cx="4991263" cy="288963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0" name="Google Shape;110;p9"/>
          <p:cNvPicPr preferRelativeResize="0"/>
          <p:nvPr/>
        </p:nvPicPr>
        <p:blipFill rotWithShape="1">
          <a:blip r:embed="rId5">
            <a:alphaModFix/>
          </a:blip>
          <a:srcRect b="0" l="0" r="0" t="2875"/>
          <a:stretch/>
        </p:blipFill>
        <p:spPr>
          <a:xfrm>
            <a:off x="196100" y="2974452"/>
            <a:ext cx="5360550" cy="389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2678c11875b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600" y="988708"/>
            <a:ext cx="10028794" cy="488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a mountain in the middle&#10;&#10;Description automatically generated" id="116" name="Google Shape;116;g2678c11875b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50963" y="230188"/>
            <a:ext cx="1205673" cy="128404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2678c11875b_0_1"/>
          <p:cNvSpPr txBox="1"/>
          <p:nvPr/>
        </p:nvSpPr>
        <p:spPr>
          <a:xfrm>
            <a:off x="365233" y="230188"/>
            <a:ext cx="591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短期定期回報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 txBox="1"/>
          <p:nvPr/>
        </p:nvSpPr>
        <p:spPr>
          <a:xfrm>
            <a:off x="4997850" y="254100"/>
            <a:ext cx="21963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儲蓄人壽戶口</a:t>
            </a:r>
            <a:endParaRPr b="1" i="0" sz="2800" u="none" cap="none" strike="noStrike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23" name="Google Shape;12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0588" y="838028"/>
            <a:ext cx="8530825" cy="589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1"/>
          <p:cNvPicPr preferRelativeResize="0"/>
          <p:nvPr/>
        </p:nvPicPr>
        <p:blipFill rotWithShape="1">
          <a:blip r:embed="rId3">
            <a:alphaModFix/>
          </a:blip>
          <a:srcRect b="0" l="1604" r="0" t="10410"/>
          <a:stretch/>
        </p:blipFill>
        <p:spPr>
          <a:xfrm>
            <a:off x="2806037" y="26672"/>
            <a:ext cx="7927425" cy="680466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1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581925" y="851225"/>
            <a:ext cx="2383500" cy="644700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TW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一次過提取</a:t>
            </a:r>
            <a:br>
              <a:rPr b="1" i="0" lang="zh-TW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zh-TW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戶口價值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例子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758150" y="3663400"/>
            <a:ext cx="2286000" cy="30480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15年：81% 增長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11"/>
          <p:cNvCxnSpPr/>
          <p:nvPr/>
        </p:nvCxnSpPr>
        <p:spPr>
          <a:xfrm>
            <a:off x="4830415" y="1592985"/>
            <a:ext cx="1603500" cy="0"/>
          </a:xfrm>
          <a:prstGeom prst="straightConnector1">
            <a:avLst/>
          </a:prstGeom>
          <a:noFill/>
          <a:ln cap="flat" cmpd="sng" w="3165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11"/>
          <p:cNvCxnSpPr/>
          <p:nvPr/>
        </p:nvCxnSpPr>
        <p:spPr>
          <a:xfrm>
            <a:off x="6192284" y="2189847"/>
            <a:ext cx="759600" cy="0"/>
          </a:xfrm>
          <a:prstGeom prst="straightConnector1">
            <a:avLst/>
          </a:prstGeom>
          <a:noFill/>
          <a:ln cap="flat" cmpd="sng" w="3165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11"/>
          <p:cNvSpPr/>
          <p:nvPr/>
        </p:nvSpPr>
        <p:spPr>
          <a:xfrm>
            <a:off x="758150" y="4006600"/>
            <a:ext cx="2286000" cy="30480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b="1"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年：</a:t>
            </a:r>
            <a:r>
              <a:rPr b="1" i="0" lang="zh-TW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301</a:t>
            </a:r>
            <a:r>
              <a:rPr b="1" i="0" lang="zh-TW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</a:t>
            </a:r>
            <a:r>
              <a:rPr b="1"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增長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14023" y="115763"/>
            <a:ext cx="1212156" cy="129094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1"/>
          <p:cNvSpPr/>
          <p:nvPr/>
        </p:nvSpPr>
        <p:spPr>
          <a:xfrm>
            <a:off x="6497539" y="3753696"/>
            <a:ext cx="540300" cy="124200"/>
          </a:xfrm>
          <a:prstGeom prst="rect">
            <a:avLst/>
          </a:prstGeom>
          <a:noFill/>
          <a:ln cap="flat" cmpd="sng" w="105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250" lIns="101250" spcFirstLastPara="1" rIns="101250" wrap="square" tIns="101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6518563" y="4096906"/>
            <a:ext cx="540300" cy="124200"/>
          </a:xfrm>
          <a:prstGeom prst="rect">
            <a:avLst/>
          </a:prstGeom>
          <a:noFill/>
          <a:ln cap="flat" cmpd="sng" w="105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250" lIns="101250" spcFirstLastPara="1" rIns="101250" wrap="square" tIns="101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91ea9d587_0_16"/>
          <p:cNvSpPr/>
          <p:nvPr/>
        </p:nvSpPr>
        <p:spPr>
          <a:xfrm>
            <a:off x="9037875" y="3486596"/>
            <a:ext cx="2286000" cy="30480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38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戶口餘額$11,509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e91ea9d587_0_16"/>
          <p:cNvSpPr/>
          <p:nvPr/>
        </p:nvSpPr>
        <p:spPr>
          <a:xfrm>
            <a:off x="9037875" y="5110196"/>
            <a:ext cx="2286000" cy="30480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38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每年提款同時</a:t>
            </a:r>
            <a:r>
              <a:rPr b="1"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戶口餘額</a:t>
            </a:r>
            <a:r>
              <a:rPr b="1"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一直提升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e91ea9d587_0_1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e91ea9d587_0_16"/>
          <p:cNvSpPr/>
          <p:nvPr/>
        </p:nvSpPr>
        <p:spPr>
          <a:xfrm>
            <a:off x="671150" y="609025"/>
            <a:ext cx="2383500" cy="644700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38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每年</a:t>
            </a:r>
            <a:r>
              <a:rPr b="1" i="0" lang="zh-TW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提取</a:t>
            </a:r>
            <a:br>
              <a:rPr b="1" i="0" lang="zh-TW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zh-TW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戶口價值</a:t>
            </a:r>
            <a:r>
              <a:rPr b="1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例子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g3e91ea9d587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14023" y="115763"/>
            <a:ext cx="1212156" cy="1290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e91ea9d587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8625" y="0"/>
            <a:ext cx="585475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e91ea9d587_0_16"/>
          <p:cNvSpPr/>
          <p:nvPr/>
        </p:nvSpPr>
        <p:spPr>
          <a:xfrm>
            <a:off x="719900" y="1950325"/>
            <a:ext cx="2286000" cy="64470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38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從第6年起</a:t>
            </a:r>
            <a:br>
              <a:rPr b="1"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每年提取$600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e91ea9d587_0_16"/>
          <p:cNvSpPr/>
          <p:nvPr/>
        </p:nvSpPr>
        <p:spPr>
          <a:xfrm>
            <a:off x="5443050" y="1950325"/>
            <a:ext cx="216600" cy="1746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e91ea9d587_0_16"/>
          <p:cNvSpPr/>
          <p:nvPr/>
        </p:nvSpPr>
        <p:spPr>
          <a:xfrm>
            <a:off x="732081" y="3058766"/>
            <a:ext cx="2286000" cy="64470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38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到第12年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總提取$9,000</a:t>
            </a:r>
            <a:br>
              <a:rPr b="1"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zh-TW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戶口餘額$11,509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e91ea9d587_0_16"/>
          <p:cNvSpPr/>
          <p:nvPr/>
        </p:nvSpPr>
        <p:spPr>
          <a:xfrm>
            <a:off x="8455450" y="3581400"/>
            <a:ext cx="339000" cy="115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e91ea9d587_0_16"/>
          <p:cNvSpPr/>
          <p:nvPr/>
        </p:nvSpPr>
        <p:spPr>
          <a:xfrm>
            <a:off x="5305425" y="1971675"/>
            <a:ext cx="137700" cy="1686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e91ea9d587_0_16"/>
          <p:cNvSpPr/>
          <p:nvPr/>
        </p:nvSpPr>
        <p:spPr>
          <a:xfrm>
            <a:off x="8794450" y="3729000"/>
            <a:ext cx="137700" cy="1686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2024-01-12T07:27:37Z</dcterms:created>
  <dc:creator>kaka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2023-12-19T00:00:00Z</vt:filetime>
  </property>
  <property fmtid="{D5CDD505-2E9C-101B-9397-08002B2CF9AE}" pid="3" name="LastSaved">
    <vt:filetime>2024-01-12T00:00:00Z</vt:filetime>
  </property>
  <property fmtid="{D5CDD505-2E9C-101B-9397-08002B2CF9AE}" pid="4" name="Producer">
    <vt:lpwstr>macOS Version 10.15.7 (Build 19H2) Quartz PDFContext</vt:lpwstr>
  </property>
</Properties>
</file>